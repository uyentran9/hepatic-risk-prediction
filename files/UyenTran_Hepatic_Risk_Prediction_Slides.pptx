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4.xml" ContentType="application/vnd.openxmlformats-officedocument.drawingml.chart+xml"/>
  <Override PartName="/ppt/notesSlides/notesSlide30.xml" ContentType="application/vnd.openxmlformats-officedocument.presentationml.notesSlide+xml"/>
  <Override PartName="/ppt/charts/chart5.xml" ContentType="application/vnd.openxmlformats-officedocument.drawingml.chart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9" r:id="rId13"/>
    <p:sldId id="280" r:id="rId14"/>
    <p:sldId id="281" r:id="rId15"/>
    <p:sldId id="282" r:id="rId16"/>
    <p:sldId id="267" r:id="rId17"/>
    <p:sldId id="268" r:id="rId18"/>
    <p:sldId id="283" r:id="rId19"/>
    <p:sldId id="269" r:id="rId20"/>
    <p:sldId id="290" r:id="rId21"/>
    <p:sldId id="291" r:id="rId22"/>
    <p:sldId id="284" r:id="rId23"/>
    <p:sldId id="270" r:id="rId24"/>
    <p:sldId id="285" r:id="rId25"/>
    <p:sldId id="286" r:id="rId26"/>
    <p:sldId id="287" r:id="rId27"/>
    <p:sldId id="271" r:id="rId28"/>
    <p:sldId id="288" r:id="rId29"/>
    <p:sldId id="272" r:id="rId30"/>
    <p:sldId id="273" r:id="rId31"/>
    <p:sldId id="289" r:id="rId32"/>
    <p:sldId id="292" r:id="rId33"/>
    <p:sldId id="293" r:id="rId34"/>
    <p:sldId id="294" r:id="rId35"/>
    <p:sldId id="274" r:id="rId36"/>
    <p:sldId id="275" r:id="rId37"/>
    <p:sldId id="295" r:id="rId38"/>
    <p:sldId id="296" r:id="rId39"/>
    <p:sldId id="276" r:id="rId40"/>
    <p:sldId id="301" r:id="rId41"/>
    <p:sldId id="277" r:id="rId42"/>
    <p:sldId id="297" r:id="rId43"/>
    <p:sldId id="298" r:id="rId44"/>
    <p:sldId id="299" r:id="rId45"/>
    <p:sldId id="278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123C6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23C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23-0046-99A2-6AE5D3261E2B}"/>
              </c:ext>
            </c:extLst>
          </c:dPt>
          <c:dPt>
            <c:idx val="1"/>
            <c:invertIfNegative val="0"/>
            <c:bubble3D val="0"/>
            <c:spPr>
              <a:solidFill>
                <a:srgbClr val="3B8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23-0046-99A2-6AE5D3261E2B}"/>
              </c:ext>
            </c:extLst>
          </c:dPt>
          <c:dPt>
            <c:idx val="2"/>
            <c:invertIfNegative val="0"/>
            <c:bubble3D val="0"/>
            <c:spPr>
              <a:solidFill>
                <a:srgbClr val="E887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23-0046-99A2-6AE5D3261E2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F2D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</c:v>
                </c:pt>
                <c:pt idx="1">
                  <c:v>D</c:v>
                </c:pt>
                <c:pt idx="2">
                  <c:v>CL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8151</c:v>
                </c:pt>
                <c:pt idx="1">
                  <c:v>3532</c:v>
                </c:pt>
                <c:pt idx="2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23-0046-99A2-6AE5D3261E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missing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69B-0E46-A311-8BFBE259051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69B-0E46-A311-8BFBE259051A}"/>
              </c:ext>
            </c:extLst>
          </c:dPt>
          <c:dPt>
            <c:idx val="2"/>
            <c:invertIfNegative val="0"/>
            <c:bubble3D val="0"/>
            <c:spPr>
              <a:solidFill>
                <a:srgbClr val="3B8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69B-0E46-A311-8BFBE259051A}"/>
              </c:ext>
            </c:extLst>
          </c:dPt>
          <c:dPt>
            <c:idx val="3"/>
            <c:invertIfNegative val="0"/>
            <c:bubble3D val="0"/>
            <c:spPr>
              <a:solidFill>
                <a:srgbClr val="3B8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69B-0E46-A311-8BFBE259051A}"/>
              </c:ext>
            </c:extLst>
          </c:dPt>
          <c:dPt>
            <c:idx val="4"/>
            <c:invertIfNegative val="0"/>
            <c:bubble3D val="0"/>
            <c:spPr>
              <a:solidFill>
                <a:srgbClr val="3B8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69B-0E46-A311-8BFBE259051A}"/>
              </c:ext>
            </c:extLst>
          </c:dPt>
          <c:dPt>
            <c:idx val="5"/>
            <c:invertIfNegative val="0"/>
            <c:bubble3D val="0"/>
            <c:spPr>
              <a:solidFill>
                <a:srgbClr val="3B8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69B-0E46-A311-8BFBE259051A}"/>
              </c:ext>
            </c:extLst>
          </c:dPt>
          <c:dPt>
            <c:idx val="6"/>
            <c:invertIfNegative val="0"/>
            <c:bubble3D val="0"/>
            <c:spPr>
              <a:solidFill>
                <a:srgbClr val="3B8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69B-0E46-A311-8BFBE259051A}"/>
              </c:ext>
            </c:extLst>
          </c:dPt>
          <c:dPt>
            <c:idx val="7"/>
            <c:invertIfNegative val="0"/>
            <c:bubble3D val="0"/>
            <c:spPr>
              <a:solidFill>
                <a:srgbClr val="3B8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69B-0E46-A311-8BFBE259051A}"/>
              </c:ext>
            </c:extLst>
          </c:dPt>
          <c:dPt>
            <c:idx val="8"/>
            <c:invertIfNegative val="0"/>
            <c:bubble3D val="0"/>
            <c:spPr>
              <a:solidFill>
                <a:srgbClr val="3B8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69B-0E46-A311-8BFBE259051A}"/>
              </c:ext>
            </c:extLst>
          </c:dPt>
          <c:dPt>
            <c:idx val="9"/>
            <c:invertIfNegative val="0"/>
            <c:bubble3D val="0"/>
            <c:spPr>
              <a:solidFill>
                <a:srgbClr val="123C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69B-0E46-A311-8BFBE259051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D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Triglyceride</c:v>
                </c:pt>
                <c:pt idx="1">
                  <c:v>Cholesterol</c:v>
                </c:pt>
                <c:pt idx="2">
                  <c:v>Copper</c:v>
                </c:pt>
                <c:pt idx="3">
                  <c:v>AST</c:v>
                </c:pt>
                <c:pt idx="4">
                  <c:v>Alk. Phosphatase</c:v>
                </c:pt>
                <c:pt idx="5">
                  <c:v>Treatment Assign.</c:v>
                </c:pt>
                <c:pt idx="6">
                  <c:v>Spider Angioma</c:v>
                </c:pt>
                <c:pt idx="7">
                  <c:v>Liver Enlarg.</c:v>
                </c:pt>
                <c:pt idx="8">
                  <c:v>Ascites</c:v>
                </c:pt>
                <c:pt idx="9">
                  <c:v>Platelet Count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55.8</c:v>
                </c:pt>
                <c:pt idx="1">
                  <c:v>55.5</c:v>
                </c:pt>
                <c:pt idx="2">
                  <c:v>43.8</c:v>
                </c:pt>
                <c:pt idx="3">
                  <c:v>43.2</c:v>
                </c:pt>
                <c:pt idx="4">
                  <c:v>43.2</c:v>
                </c:pt>
                <c:pt idx="5">
                  <c:v>43.1</c:v>
                </c:pt>
                <c:pt idx="6">
                  <c:v>43.1</c:v>
                </c:pt>
                <c:pt idx="7">
                  <c:v>43.1</c:v>
                </c:pt>
                <c:pt idx="8">
                  <c:v>43.1</c:v>
                </c:pt>
                <c:pt idx="9">
                  <c:v>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69B-0E46-A311-8BFBE25905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F2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Log Loss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87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CAA-FD40-972A-B48BA2B2D053}"/>
              </c:ext>
            </c:extLst>
          </c:dPt>
          <c:dPt>
            <c:idx val="1"/>
            <c:invertIfNegative val="0"/>
            <c:bubble3D val="0"/>
            <c:spPr>
              <a:solidFill>
                <a:srgbClr val="3B8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CAA-FD40-972A-B48BA2B2D053}"/>
              </c:ext>
            </c:extLst>
          </c:dPt>
          <c:dPt>
            <c:idx val="2"/>
            <c:invertIfNegative val="0"/>
            <c:bubble3D val="0"/>
            <c:spPr>
              <a:solidFill>
                <a:srgbClr val="3B8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CAA-FD40-972A-B48BA2B2D053}"/>
              </c:ext>
            </c:extLst>
          </c:dPt>
          <c:dPt>
            <c:idx val="3"/>
            <c:invertIfNegative val="0"/>
            <c:bubble3D val="0"/>
            <c:spPr>
              <a:solidFill>
                <a:srgbClr val="123C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CAA-FD40-972A-B48BA2B2D053}"/>
              </c:ext>
            </c:extLst>
          </c:dPt>
          <c:dLbls>
            <c:numFmt formatCode="0.0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F2D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XGBoost</c:v>
                </c:pt>
                <c:pt idx="1">
                  <c:v>LightGBM</c:v>
                </c:pt>
                <c:pt idx="2">
                  <c:v>CatBoost</c:v>
                </c:pt>
                <c:pt idx="3">
                  <c:v>Logistic Regression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0.37412000000000001</c:v>
                </c:pt>
                <c:pt idx="1">
                  <c:v>0.37463999999999997</c:v>
                </c:pt>
                <c:pt idx="2">
                  <c:v>0.38346999999999998</c:v>
                </c:pt>
                <c:pt idx="3">
                  <c:v>0.45595999999999998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CAA-FD40-972A-B48BA2B2D0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</c:v>
                </c:pt>
              </c:strCache>
            </c:strRef>
          </c:tx>
          <c:spPr>
            <a:solidFill>
              <a:srgbClr val="123C69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F2D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XGBoost</c:v>
                </c:pt>
                <c:pt idx="1">
                  <c:v>LightGBM</c:v>
                </c:pt>
                <c:pt idx="2">
                  <c:v>CatBoost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0.37412000000000001</c:v>
                </c:pt>
                <c:pt idx="1">
                  <c:v>0.37463999999999997</c:v>
                </c:pt>
                <c:pt idx="2">
                  <c:v>0.38346999999999998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89-2A4F-9776-B3B893D77C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F2D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XGBoost</c:v>
                </c:pt>
                <c:pt idx="1">
                  <c:v>LightGBM</c:v>
                </c:pt>
                <c:pt idx="2">
                  <c:v>CatBoost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0.37148999999999999</c:v>
                </c:pt>
                <c:pt idx="1">
                  <c:v>0.37093999999999999</c:v>
                </c:pt>
                <c:pt idx="2">
                  <c:v>0.37952000000000002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89-2A4F-9776-B3B893D77C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-1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D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Blend weight</c:v>
                </c:pt>
              </c:strCache>
            </c:strRef>
          </c:tx>
          <c:spPr>
            <a:solidFill>
              <a:srgbClr val="3B868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B8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C43-2B48-9265-2B902CD1E175}"/>
              </c:ext>
            </c:extLst>
          </c:dPt>
          <c:dPt>
            <c:idx val="1"/>
            <c:invertIfNegative val="0"/>
            <c:bubble3D val="0"/>
            <c:spPr>
              <a:solidFill>
                <a:srgbClr val="123C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C43-2B48-9265-2B902CD1E175}"/>
              </c:ext>
            </c:extLst>
          </c:dPt>
          <c:dPt>
            <c:idx val="2"/>
            <c:invertIfNegative val="0"/>
            <c:bubble3D val="0"/>
            <c:spPr>
              <a:solidFill>
                <a:srgbClr val="E887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C43-2B48-9265-2B902CD1E175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D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LightGBM</c:v>
                </c:pt>
                <c:pt idx="1">
                  <c:v>XGBoost</c:v>
                </c:pt>
                <c:pt idx="2">
                  <c:v>CatBoost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0.56830000000000003</c:v>
                </c:pt>
                <c:pt idx="1">
                  <c:v>0.43080000000000002</c:v>
                </c:pt>
                <c:pt idx="2">
                  <c:v>8.0000000000000004E-4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C43-2B48-9265-2B902CD1E1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D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934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specifically asked từng model generate features thế nào. Answer: domain feature only in_trial; LR creates transformed features; boosting doesn’t create manual interaction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Với LR, StandardScaler nằm sau SimpleImputer nên indicators cũng bị scale. Với tree models, không scale vì trees threshold-based.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không drop Cholesterol/Triglyceride dù &gt;50% missing vì missingness khác theo outcome và có tín hiệu.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“None”: pandas mặc định dễ hiểu nhầm thành missing. Đây là một clinical value thật trong Edema_Status.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LightGBM và XGBoost gần như tie; CatBoost yếu hơn ở dataset này dù lý thuyết hợp categorical.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nơi nói rõ Optuna không train blend. Blend chỉ dùng OOF matrices đã có.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Nelder-Mead không cần đạo hàm. Search weights trên prediction matrices.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câu trả lời nếu bị hỏi “Sao blend ít quá?”: tương quan quá cao, independent error còn 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correction lớn nhất: Optuna không train blend. TPE chỉ chọn “núm vặn” để trial kế tiếp thử.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cần nói công thức sâu. Chỉ cần nhớ TPE khác random vì nó học từ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trial của Final trả về mean của 15 fold scores. Optuna chỉ thấy một scalar, không thấy toàn bộ OOF matrix dùng cho blend.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Nói gọn: search space là cái hộp. Optuna thông minh trong cái hộp, nhưng không tìm ngoài cái hộp.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Nếu bị hỏi “tune ra gì?”: cây nông, regularization, subsampling. Data không cần model quá phức tạp thêm.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Seed là số điều khiển RNG. Không phải điểm khởi tạo “thông minh”. Quan trọng để reproducibility.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bẫy: train row không có 15 OOF predictions; chỉ có 3 honest OOF predictions. Test row mới average 15/family.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failed experiment có giá trị. Không nói seed-avg chắc chắn dở; nói evidence disagree và gain quá nhỏ so với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Nếu bị hỏi vì sao CL yếu: severe imbalance + overlap. Tuning không thay đổi calibration gap nhiều.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bảng giúp trình bày logic chọn final model. Không phải cứ score local thấp là chọn.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 bằng reflection sẽ chuyên nghiệp: không khoe quá, không giấu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backup Q&amp;A. Nếu không cần thì không trình bày, nhưng giữ trong deck để tự 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backup slide. Học thuộc định nghĩa ngắn này là đủ xử lý câu hỏi kỹ thuật.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/home/claude/pptx_project/icons/heartb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98572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 2026 · KAGGLE COMPETITION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2402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Hepatic Risk Outcome Prediction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2960" y="34290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three-class clinical outcome model — from raw data to a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tuned, blended, and honestly-evaluated final solution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3B86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Uyen Tran  </a:t>
            </a:r>
            <a:r>
              <a:rPr lang="en-US" sz="1400" dirty="0">
                <a:solidFill>
                  <a:srgbClr val="9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(Victoria Tran)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983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Log Loss  ·  XGBoost + LightGBM + CatBoost  ·  Optuna two-round tuning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1372" y="2404872"/>
            <a:ext cx="585216" cy="585216"/>
          </a:xfrm>
          <a:prstGeom prst="ellipse">
            <a:avLst/>
          </a:prstGeom>
          <a:solidFill>
            <a:srgbClr val="123C69"/>
          </a:solidFill>
          <a:ln/>
        </p:spPr>
      </p:sp>
      <p:pic>
        <p:nvPicPr>
          <p:cNvPr id="6" name="Image 0" descr="/home/claude/pptx_project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824" y="2545324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22120" y="22585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3200400"/>
            <a:ext cx="1411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3721608"/>
            <a:ext cx="1447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before modeling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06752" y="3214116"/>
            <a:ext cx="201168" cy="201168"/>
          </a:xfrm>
          <a:prstGeom prst="rightArrow">
            <a:avLst/>
          </a:prstGeom>
          <a:solidFill>
            <a:srgbClr val="3B8686"/>
          </a:solidFill>
          <a:ln/>
        </p:spPr>
      </p:sp>
      <p:sp>
        <p:nvSpPr>
          <p:cNvPr id="11" name="Shape 8"/>
          <p:cNvSpPr/>
          <p:nvPr/>
        </p:nvSpPr>
        <p:spPr>
          <a:xfrm>
            <a:off x="2435352" y="214884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58084" y="2404872"/>
            <a:ext cx="585216" cy="585216"/>
          </a:xfrm>
          <a:prstGeom prst="ellipse">
            <a:avLst/>
          </a:prstGeom>
          <a:solidFill>
            <a:srgbClr val="3B8686"/>
          </a:solidFill>
          <a:ln/>
        </p:spPr>
      </p:sp>
      <p:pic>
        <p:nvPicPr>
          <p:cNvPr id="13" name="Image 1" descr="/home/claude/pptx_project/icons/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536" y="2545324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8832" y="22585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545080" y="3200400"/>
            <a:ext cx="1411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526792" y="3721608"/>
            <a:ext cx="1447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093464" y="3214116"/>
            <a:ext cx="201168" cy="201168"/>
          </a:xfrm>
          <a:prstGeom prst="rightArrow">
            <a:avLst/>
          </a:prstGeom>
          <a:solidFill>
            <a:srgbClr val="3B8686"/>
          </a:solidFill>
          <a:ln/>
        </p:spPr>
      </p:sp>
      <p:sp>
        <p:nvSpPr>
          <p:cNvPr id="18" name="Shape 14"/>
          <p:cNvSpPr/>
          <p:nvPr/>
        </p:nvSpPr>
        <p:spPr>
          <a:xfrm>
            <a:off x="4322064" y="214884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44796" y="2404872"/>
            <a:ext cx="585216" cy="585216"/>
          </a:xfrm>
          <a:prstGeom prst="ellipse">
            <a:avLst/>
          </a:prstGeom>
          <a:solidFill>
            <a:srgbClr val="123C69"/>
          </a:solidFill>
          <a:ln/>
        </p:spPr>
      </p:sp>
      <p:pic>
        <p:nvPicPr>
          <p:cNvPr id="20" name="Image 2" descr="/home/claude/pptx_project/icons/d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5248" y="2545324"/>
            <a:ext cx="304312" cy="304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95544" y="22585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431792" y="3200400"/>
            <a:ext cx="1411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Models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294632" y="3517148"/>
            <a:ext cx="1676400" cy="890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</a:t>
            </a:r>
            <a:r>
              <a:rPr lang="en-US" sz="105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Then equal-blend and optimized-blend </a:t>
            </a:r>
            <a:r>
              <a:rPr lang="en-US" sz="105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NelderMead</a:t>
            </a: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3 boosting types.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980176" y="3214116"/>
            <a:ext cx="201168" cy="201168"/>
          </a:xfrm>
          <a:prstGeom prst="rightArrow">
            <a:avLst/>
          </a:prstGeom>
          <a:solidFill>
            <a:srgbClr val="3B8686"/>
          </a:solidFill>
          <a:ln/>
        </p:spPr>
      </p:sp>
      <p:sp>
        <p:nvSpPr>
          <p:cNvPr id="25" name="Shape 20"/>
          <p:cNvSpPr/>
          <p:nvPr/>
        </p:nvSpPr>
        <p:spPr>
          <a:xfrm>
            <a:off x="6208776" y="214884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31508" y="2404872"/>
            <a:ext cx="585216" cy="585216"/>
          </a:xfrm>
          <a:prstGeom prst="ellipse">
            <a:avLst/>
          </a:prstGeom>
          <a:solidFill>
            <a:srgbClr val="3B8686"/>
          </a:solidFill>
          <a:ln/>
        </p:spPr>
      </p:sp>
      <p:pic>
        <p:nvPicPr>
          <p:cNvPr id="27" name="Image 3" descr="/home/claude/pptx_project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1960" y="2545324"/>
            <a:ext cx="304312" cy="3043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82256" y="22585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318504" y="3200400"/>
            <a:ext cx="1411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Tuning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6300216" y="3721608"/>
            <a:ext cx="1447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Two-round hyperparameter search, TPE.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866888" y="3214116"/>
            <a:ext cx="201168" cy="201168"/>
          </a:xfrm>
          <a:prstGeom prst="rightArrow">
            <a:avLst/>
          </a:prstGeom>
          <a:solidFill>
            <a:srgbClr val="3B8686"/>
          </a:solidFill>
          <a:ln/>
        </p:spPr>
      </p:sp>
      <p:sp>
        <p:nvSpPr>
          <p:cNvPr id="32" name="Shape 26"/>
          <p:cNvSpPr/>
          <p:nvPr/>
        </p:nvSpPr>
        <p:spPr>
          <a:xfrm>
            <a:off x="8095488" y="214884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618220" y="2404872"/>
            <a:ext cx="585216" cy="585216"/>
          </a:xfrm>
          <a:prstGeom prst="ellipse">
            <a:avLst/>
          </a:prstGeom>
          <a:solidFill>
            <a:srgbClr val="123C69"/>
          </a:solidFill>
          <a:ln/>
        </p:spPr>
      </p:sp>
      <p:pic>
        <p:nvPicPr>
          <p:cNvPr id="34" name="Image 4" descr="/home/claude/pptx_project/icons/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8672" y="2545324"/>
            <a:ext cx="304312" cy="30431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268968" y="22585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8205216" y="3200400"/>
            <a:ext cx="1411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8186928" y="3517148"/>
            <a:ext cx="1447800" cy="890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OOF combination. Two connected steps: </a:t>
            </a:r>
            <a:r>
              <a:rPr lang="en-US" sz="105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TPE+Optimized</a:t>
            </a: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NelderMead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9753600" y="3214116"/>
            <a:ext cx="201168" cy="201168"/>
          </a:xfrm>
          <a:prstGeom prst="rightArrow">
            <a:avLst/>
          </a:prstGeom>
          <a:solidFill>
            <a:srgbClr val="3B8686"/>
          </a:solidFill>
          <a:ln/>
        </p:spPr>
      </p:sp>
      <p:sp>
        <p:nvSpPr>
          <p:cNvPr id="39" name="Shape 32"/>
          <p:cNvSpPr/>
          <p:nvPr/>
        </p:nvSpPr>
        <p:spPr>
          <a:xfrm>
            <a:off x="9982200" y="214884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FDEBD3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0504932" y="2404872"/>
            <a:ext cx="585216" cy="585216"/>
          </a:xfrm>
          <a:prstGeom prst="ellipse">
            <a:avLst/>
          </a:prstGeom>
          <a:solidFill>
            <a:srgbClr val="3B8686"/>
          </a:solidFill>
          <a:ln/>
        </p:spPr>
      </p:sp>
      <p:pic>
        <p:nvPicPr>
          <p:cNvPr id="41" name="Image 5" descr="/home/claude/pptx_project/icons/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5384" y="2545324"/>
            <a:ext cx="304312" cy="30431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1155680" y="22585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Text 35"/>
          <p:cNvSpPr/>
          <p:nvPr/>
        </p:nvSpPr>
        <p:spPr>
          <a:xfrm>
            <a:off x="10091928" y="3200400"/>
            <a:ext cx="1411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350" dirty="0"/>
          </a:p>
        </p:txBody>
      </p:sp>
      <p:sp>
        <p:nvSpPr>
          <p:cNvPr id="44" name="Text 36"/>
          <p:cNvSpPr/>
          <p:nvPr/>
        </p:nvSpPr>
        <p:spPr>
          <a:xfrm>
            <a:off x="10073640" y="3721608"/>
            <a:ext cx="1447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still fails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result:  OOF Log Loss 0.45596 → 0.37010   |   Public Leaderboard 0.38042</a:t>
            </a:r>
            <a:endParaRPr lang="en-US" sz="1500" dirty="0"/>
          </a:p>
        </p:txBody>
      </p:sp>
      <p:sp>
        <p:nvSpPr>
          <p:cNvPr id="46" name="Text 3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Three Possible Outcomes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035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patient's record leads to one of three follow-up outcomes: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alive, no transplant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— alive, after liver transplantation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deceased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must output a full probability for all three — not just pick one label.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40880" y="1874520"/>
            <a:ext cx="4572000" cy="3931920"/>
          </a:xfrm>
          <a:prstGeom prst="roundRect">
            <a:avLst>
              <a:gd name="adj" fmla="val 1860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0" y="2103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prediction for one patient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2606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464040" y="2660904"/>
            <a:ext cx="374904" cy="384048"/>
          </a:xfrm>
          <a:prstGeom prst="roundRect">
            <a:avLst>
              <a:gd name="adj" fmla="val 14634"/>
            </a:avLst>
          </a:prstGeom>
          <a:solidFill>
            <a:srgbClr val="3B8686"/>
          </a:solidFill>
          <a:ln/>
        </p:spPr>
      </p:sp>
      <p:sp>
        <p:nvSpPr>
          <p:cNvPr id="9" name="Text 7"/>
          <p:cNvSpPr/>
          <p:nvPr/>
        </p:nvSpPr>
        <p:spPr>
          <a:xfrm>
            <a:off x="9930384" y="2606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320954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Status_CL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464040" y="3264408"/>
            <a:ext cx="93726" cy="384048"/>
          </a:xfrm>
          <a:prstGeom prst="roundRect">
            <a:avLst>
              <a:gd name="adj" fmla="val 58537"/>
            </a:avLst>
          </a:prstGeom>
          <a:solidFill>
            <a:srgbClr val="3B8686"/>
          </a:solidFill>
          <a:ln/>
        </p:spPr>
      </p:sp>
      <p:sp>
        <p:nvSpPr>
          <p:cNvPr id="12" name="Text 10"/>
          <p:cNvSpPr/>
          <p:nvPr/>
        </p:nvSpPr>
        <p:spPr>
          <a:xfrm>
            <a:off x="9649206" y="320954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0" y="381304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464040" y="3867912"/>
            <a:ext cx="1405890" cy="384048"/>
          </a:xfrm>
          <a:prstGeom prst="roundRect">
            <a:avLst>
              <a:gd name="adj" fmla="val 14286"/>
            </a:avLst>
          </a:prstGeom>
          <a:solidFill>
            <a:srgbClr val="E8871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61370" y="38130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0" y="455371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must be non-negative and sum to 1.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isn't only "which class?" — it's "how confident should we be?"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Loss Punishes Confident Mistakes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outcome for this patient: 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EAF4EE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0.30   CL = 0.20   D = 0.50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top class, moderate confidence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penalty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55080" y="214884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BEAEA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0.95   CL = 0.04   D = 0.01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top class, and confidently wrong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4892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 penalty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2606040" cy="79369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68219"/>
            <a:ext cx="260604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patients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874520"/>
            <a:ext cx="2606040" cy="79369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37560" y="2668219"/>
            <a:ext cx="260604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patients (unlabeled)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874520"/>
            <a:ext cx="2606040" cy="79369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+ 1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26480" y="2668219"/>
            <a:ext cx="260604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engineered features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874520"/>
            <a:ext cx="2606040" cy="79369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915400" y="2668219"/>
            <a:ext cx="260604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classes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&amp; timing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29000" y="3520440"/>
            <a:ext cx="8183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follow-up duration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1422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findings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429000" y="4142232"/>
            <a:ext cx="8183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Ascites, liver enlargement, spider angioma, edema, clinical stage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76402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measurements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29000" y="4764024"/>
            <a:ext cx="8183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Bilirubin, cholesterol, albumin, copper, ALP, AST, triglycerides, platelets, prothrombin time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38581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Treatment-related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429000" y="5385816"/>
            <a:ext cx="8183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assignment + a 7-column trial-record block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Severely Imbalanced Target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920240"/>
            <a:ext cx="3794760" cy="3840480"/>
          </a:xfrm>
          <a:prstGeom prst="roundRect">
            <a:avLst>
              <a:gd name="adj" fmla="val 1928"/>
            </a:avLst>
          </a:prstGeom>
          <a:solidFill>
            <a:srgbClr val="FDEBD3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21945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2.64%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092440" y="2926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training rows are class CL — about 2-3 patients in every 100.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92440" y="3840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random split could easily starve some validation folds of CL examples entirely.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92440" y="4800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Decision: use Stratified K-Fold everywhere.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Missingness Is Not Random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91640"/>
          <a:ext cx="72237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920240"/>
            <a:ext cx="3794760" cy="4023360"/>
          </a:xfrm>
          <a:prstGeom prst="roundRect">
            <a:avLst>
              <a:gd name="adj" fmla="val 1928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21488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B8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columns cluster at ~43%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092440" y="28346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similarity across 7 independent-looking columns is not a coincidence.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92440" y="3657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 of rows are either fully complete or fully missing on this 7-column block.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92440" y="4617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structural data-collection pattern, not scattered noise.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 2 (CONTINUED)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Pattern Into a Feature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3566160" cy="107716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56.1%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43123"/>
            <a:ext cx="3566160" cy="660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have all 7 block fields present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0" y="1965960"/>
            <a:ext cx="3566160" cy="107716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42.9%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97680" y="3043123"/>
            <a:ext cx="3566160" cy="660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missing all 7 block fields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1965960"/>
            <a:ext cx="3566160" cy="107716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046720" y="3043123"/>
            <a:ext cx="3566160" cy="660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only partially missing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E8F1EF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407408"/>
            <a:ext cx="822960" cy="822960"/>
          </a:xfrm>
          <a:prstGeom prst="ellipse">
            <a:avLst/>
          </a:prstGeom>
          <a:solidFill>
            <a:srgbClr val="3B8686"/>
          </a:solidFill>
          <a:ln/>
        </p:spPr>
      </p:sp>
      <p:pic>
        <p:nvPicPr>
          <p:cNvPr id="15" name="Image 0" descr="/home/claude/pptx_project/icons/puzz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4604918"/>
            <a:ext cx="427939" cy="42793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965960" y="431596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feature:  </a:t>
            </a:r>
            <a:r>
              <a:rPr lang="en-US" sz="1600" b="1" dirty="0">
                <a:solidFill>
                  <a:srgbClr val="3B8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in_trial</a:t>
            </a: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1 if all 7 fields present, else 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965960" y="484632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model one direct signal instead of asking it to rediscover the same pattern across 7 separate columns. Treated as an inferred completeness proxy, not confirmed trial-enrollment metadata.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 3 ·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Every Finding to a Decision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480560"/>
        </p:xfrm>
        <a:graphic>
          <a:graphicData uri="http://schemas.openxmlformats.org/drawingml/2006/table">
            <a:tbl>
              <a:tblPr/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C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 is only 2.64% of training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K-Fold everywhere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columns miss together (~43% each)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in_trial completeness proxy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rate differs by outcome 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missing indicators — don't drop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"None" in Edema_Status is a real 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CSV read — never auto-NaN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Input-output relationship looks non-linear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boosting models, not only linear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categorical features are nominal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(LogReg) / native handling (trees)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Out-of-Fold: Every Row Tested Exactly Once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 is assigned to fold 3: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35915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07208" y="219456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07208" y="235915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07208" y="278892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65776" y="219456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FDEBD3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65776" y="235915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65776" y="278892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24344" y="219456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24344" y="235915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24344" y="278892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82912" y="219456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82912" y="235915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82912" y="278892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fold 3's prediction is kept as Patient A's OOF prediction — made by a model that never saw A during training.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4EE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709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→  self-check (OOF)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120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12,000 rows gets exactly one honest prediction, from the one fold that held it out.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5262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E8F1EF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4709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→  average of 5 models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5120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to hold out, so all 5 fold models predict every test row; their probabilities are averaged.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Data, Different “Diet” Per Model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3774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&amp; 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C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encoded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dtype = "category" (native)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as strings + Pool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impute + indicator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split direction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natively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 required?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required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F8F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F8F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Logistic Regression needs more steps: it is a pure numeric formula — text must become numbers, gaps can't be left empty, and columns on very different scales would otherwise dominate unfairly.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only ask “is this value above threshold X?” — no scale sensitivity, and missing values become just another branch direction.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still train on the exact same 5 folds (seed = 42) — for a fair comparison.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19 features, different representation per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8018" y="1329538"/>
            <a:ext cx="1867205" cy="550469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472538" y="1329538"/>
            <a:ext cx="2964485" cy="550469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Categorical columns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44338" y="1329538"/>
            <a:ext cx="2598725" cy="550469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missing values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50378" y="1329538"/>
            <a:ext cx="1135685" cy="550469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93378" y="1329538"/>
            <a:ext cx="2461565" cy="550469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columns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8018" y="1887322"/>
            <a:ext cx="186720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72538" y="1887322"/>
            <a:ext cx="296448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One-hot encoding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44338" y="1887322"/>
            <a:ext cx="259872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impute + indicators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50378" y="1887322"/>
            <a:ext cx="113568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93378" y="1887322"/>
            <a:ext cx="246156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Yes: indicators + one-hot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8018" y="2445106"/>
            <a:ext cx="186720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72538" y="2445106"/>
            <a:ext cx="296448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category + native handling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44338" y="2445106"/>
            <a:ext cx="259872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Kept as NaN; learned direction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50378" y="2445106"/>
            <a:ext cx="113568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93378" y="2445106"/>
            <a:ext cx="246156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explicit new columns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8018" y="3002890"/>
            <a:ext cx="186720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72538" y="3002890"/>
            <a:ext cx="296448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category + native handling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44338" y="3002890"/>
            <a:ext cx="259872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Kept as NaN; learned direction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50378" y="3002890"/>
            <a:ext cx="113568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93378" y="3002890"/>
            <a:ext cx="246156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explicit new columns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8018" y="3560674"/>
            <a:ext cx="186720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CatBoost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72538" y="3560674"/>
            <a:ext cx="296448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strings + Pool(cat_features)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44338" y="3560674"/>
            <a:ext cx="259872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Kept as NaN internally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50378" y="3560674"/>
            <a:ext cx="113568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93378" y="3560674"/>
            <a:ext cx="2461565" cy="550469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explicit DataFrame columns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7240" y="4663440"/>
            <a:ext cx="10698480" cy="1005840"/>
          </a:xfrm>
          <a:prstGeom prst="rect">
            <a:avLst/>
          </a:prstGeom>
          <a:solidFill>
            <a:srgbClr val="FFF3E6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correction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domain feature engineering creates only `in_trial`. Logistic Regression preprocessing creates extra transformed columns; tree models learn interactions inside the tree structure.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 features: exact handling, part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 with no missing values or very low missingness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0858" y="1329538"/>
            <a:ext cx="2050085" cy="524180"/>
          </a:xfrm>
          <a:prstGeom prst="rect">
            <a:avLst/>
          </a:prstGeom>
          <a:solidFill>
            <a:srgbClr val="1E6091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2518258" y="1329538"/>
            <a:ext cx="1867205" cy="524180"/>
          </a:xfrm>
          <a:prstGeom prst="rect">
            <a:avLst/>
          </a:prstGeom>
          <a:solidFill>
            <a:srgbClr val="1E6091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pattern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4392778" y="1329538"/>
            <a:ext cx="3650285" cy="524180"/>
          </a:xfrm>
          <a:prstGeom prst="rect">
            <a:avLst/>
          </a:prstGeom>
          <a:solidFill>
            <a:srgbClr val="1E6091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8050378" y="1329538"/>
            <a:ext cx="3696005" cy="524180"/>
          </a:xfrm>
          <a:prstGeom prst="rect">
            <a:avLst/>
          </a:prstGeom>
          <a:solidFill>
            <a:srgbClr val="1E6091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 models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460858" y="1861033"/>
            <a:ext cx="205008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Followup_Days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2518258" y="1861033"/>
            <a:ext cx="186720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missing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4392778" y="1861033"/>
            <a:ext cx="365028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8050378" y="1861033"/>
            <a:ext cx="369600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numeric; no scaling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460858" y="2392528"/>
            <a:ext cx="205008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Patient_Age_Days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2518258" y="2392528"/>
            <a:ext cx="186720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missing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4392778" y="2392528"/>
            <a:ext cx="365028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8050378" y="2392528"/>
            <a:ext cx="369600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numeric; no scaling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460858" y="2924023"/>
            <a:ext cx="205008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Bilirubin_Level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2518258" y="2924023"/>
            <a:ext cx="186720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missing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4392778" y="2924023"/>
            <a:ext cx="365028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8050378" y="2924023"/>
            <a:ext cx="369600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numeric; no scaling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460858" y="3455518"/>
            <a:ext cx="205008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Albumin_Level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2518258" y="3455518"/>
            <a:ext cx="186720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missing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4392778" y="3455518"/>
            <a:ext cx="365028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8050378" y="3455518"/>
            <a:ext cx="369600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numeric; no scaling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460858" y="3987013"/>
            <a:ext cx="205008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Platelet_Count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2518258" y="3987013"/>
            <a:ext cx="186720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~3.7% missing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4392778" y="3987013"/>
            <a:ext cx="365028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impute + missing indicator + scale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8050378" y="3987013"/>
            <a:ext cx="369600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NaN; model handles missing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460858" y="4518508"/>
            <a:ext cx="205008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Prothrombin_Time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2518258" y="4518508"/>
            <a:ext cx="186720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~0.1% missing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4392778" y="4518508"/>
            <a:ext cx="365028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impute + missing indicator + scale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8050378" y="4518508"/>
            <a:ext cx="369600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NaN; model handles missing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460858" y="5050003"/>
            <a:ext cx="205008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in_trial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2518258" y="5050003"/>
            <a:ext cx="186720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by code; no missing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4392778" y="5050003"/>
            <a:ext cx="365028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0/1 then standardized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8050378" y="5050003"/>
            <a:ext cx="3696005" cy="5241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0/1; no scaling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777240" y="5806440"/>
            <a:ext cx="10698480" cy="3657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and scaling are fit inside each training fold only — never on validation rows.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 features: exact handling, part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High-missing and trial-block lab features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5138" y="1375258"/>
            <a:ext cx="2095805" cy="495605"/>
          </a:xfrm>
          <a:prstGeom prst="rect">
            <a:avLst/>
          </a:prstGeom>
          <a:solidFill>
            <a:srgbClr val="2A9D8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518258" y="1375258"/>
            <a:ext cx="1592885" cy="495605"/>
          </a:xfrm>
          <a:prstGeom prst="rect">
            <a:avLst/>
          </a:prstGeom>
          <a:solidFill>
            <a:srgbClr val="2A9D8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pattern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4118458" y="1375258"/>
            <a:ext cx="2050085" cy="495605"/>
          </a:xfrm>
          <a:prstGeom prst="rect">
            <a:avLst/>
          </a:prstGeom>
          <a:solidFill>
            <a:srgbClr val="2A9D8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meaning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175858" y="1375258"/>
            <a:ext cx="2918765" cy="495605"/>
          </a:xfrm>
          <a:prstGeom prst="rect">
            <a:avLst/>
          </a:prstGeom>
          <a:solidFill>
            <a:srgbClr val="2A9D8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9101938" y="1375258"/>
            <a:ext cx="2644445" cy="495605"/>
          </a:xfrm>
          <a:prstGeom prst="rect">
            <a:avLst/>
          </a:prstGeom>
          <a:solidFill>
            <a:srgbClr val="2A9D8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 models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15138" y="1878178"/>
            <a:ext cx="209580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Cholesterol_Level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518258" y="1878178"/>
            <a:ext cx="159288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~55.5%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118458" y="1878178"/>
            <a:ext cx="205008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high-missing lab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175858" y="1878178"/>
            <a:ext cx="291876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+ indicator + scale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9101938" y="1878178"/>
            <a:ext cx="264444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NaN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15138" y="2381098"/>
            <a:ext cx="209580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Triglyceride_Level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2518258" y="2381098"/>
            <a:ext cx="159288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~55.8%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118458" y="2381098"/>
            <a:ext cx="205008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high-missing lab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175858" y="2381098"/>
            <a:ext cx="291876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+ indicator + scale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101938" y="2381098"/>
            <a:ext cx="264444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NaN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15138" y="2884018"/>
            <a:ext cx="209580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Copper_Level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518258" y="2884018"/>
            <a:ext cx="159288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~43.8%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118458" y="2884018"/>
            <a:ext cx="205008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block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175858" y="2884018"/>
            <a:ext cx="291876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+ indicator + scale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101938" y="2884018"/>
            <a:ext cx="264444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NaN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15138" y="3386938"/>
            <a:ext cx="209580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Alkaline_Phosphatase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2518258" y="3386938"/>
            <a:ext cx="159288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~43.2%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118458" y="3386938"/>
            <a:ext cx="205008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block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175858" y="3386938"/>
            <a:ext cx="291876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+ indicator + scale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101938" y="3386938"/>
            <a:ext cx="264444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NaN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15138" y="3889858"/>
            <a:ext cx="209580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AST_Level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2518258" y="3889858"/>
            <a:ext cx="159288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~43.2%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4118458" y="3889858"/>
            <a:ext cx="205008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block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6175858" y="3889858"/>
            <a:ext cx="291876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+ indicator + scale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101938" y="3889858"/>
            <a:ext cx="2644445" cy="4956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NaN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777240" y="4800600"/>
            <a:ext cx="5029200" cy="914400"/>
          </a:xfrm>
          <a:prstGeom prst="rect">
            <a:avLst/>
          </a:prstGeom>
          <a:solidFill>
            <a:srgbClr val="EAF3FA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E60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output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numeric columns + about 7 numeric missing indicators ≈ 19 numeric outputs before one-hot categorical columns.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263640" y="4800600"/>
            <a:ext cx="5029200" cy="914400"/>
          </a:xfrm>
          <a:prstGeom prst="rect">
            <a:avLst/>
          </a:prstGeom>
          <a:solidFill>
            <a:srgbClr val="E8F7F4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 output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manual missing indicators are added; missing value direction can be learned by tree splits.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Categorical features: exact handling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Clinical_Stage is treated as categorical; “None” is real in Edema_Status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3698" y="1329538"/>
            <a:ext cx="1821485" cy="52989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810" dirty="0"/>
          </a:p>
        </p:txBody>
      </p:sp>
      <p:sp>
        <p:nvSpPr>
          <p:cNvPr id="6" name="Text 4"/>
          <p:cNvSpPr/>
          <p:nvPr/>
        </p:nvSpPr>
        <p:spPr>
          <a:xfrm>
            <a:off x="2152498" y="1329538"/>
            <a:ext cx="3101645" cy="52989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 note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5261458" y="1329538"/>
            <a:ext cx="2004365" cy="52989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7273138" y="1329538"/>
            <a:ext cx="2004365" cy="52989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XGB/LGBM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9284818" y="1329538"/>
            <a:ext cx="2553005" cy="52989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CatBoost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323698" y="1866748"/>
            <a:ext cx="182148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Treatment_Assignment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2152498" y="1866748"/>
            <a:ext cx="310164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block; missing → __MISSING__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5261458" y="1866748"/>
            <a:ext cx="200436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one-hot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7273138" y="1866748"/>
            <a:ext cx="200436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dtype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9284818" y="1866748"/>
            <a:ext cx="255300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+ Pool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323698" y="2403958"/>
            <a:ext cx="182148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Patient_Sex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2152498" y="2403958"/>
            <a:ext cx="310164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nominal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5261458" y="2403958"/>
            <a:ext cx="200436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one-hot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7273138" y="2403958"/>
            <a:ext cx="200436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dtype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9284818" y="2403958"/>
            <a:ext cx="255300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+ Pool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323698" y="2941168"/>
            <a:ext cx="182148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Ascites_Indicator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2152498" y="2941168"/>
            <a:ext cx="310164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block; missing → __MISSING__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5261458" y="2941168"/>
            <a:ext cx="200436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one-hot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7273138" y="2941168"/>
            <a:ext cx="200436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dtype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9284818" y="2941168"/>
            <a:ext cx="255300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+ Pool</a:t>
            </a:r>
            <a:endParaRPr lang="en-US" sz="810" dirty="0"/>
          </a:p>
        </p:txBody>
      </p:sp>
      <p:sp>
        <p:nvSpPr>
          <p:cNvPr id="25" name="Text 23"/>
          <p:cNvSpPr/>
          <p:nvPr/>
        </p:nvSpPr>
        <p:spPr>
          <a:xfrm>
            <a:off x="323698" y="3478378"/>
            <a:ext cx="182148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Liver_Enlargement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2152498" y="3478378"/>
            <a:ext cx="310164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block; missing → __MISSING__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5261458" y="3478378"/>
            <a:ext cx="200436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one-hot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7273138" y="3478378"/>
            <a:ext cx="200436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dtype</a:t>
            </a:r>
            <a:endParaRPr lang="en-US" sz="810" dirty="0"/>
          </a:p>
        </p:txBody>
      </p:sp>
      <p:sp>
        <p:nvSpPr>
          <p:cNvPr id="29" name="Text 27"/>
          <p:cNvSpPr/>
          <p:nvPr/>
        </p:nvSpPr>
        <p:spPr>
          <a:xfrm>
            <a:off x="9284818" y="3478378"/>
            <a:ext cx="255300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+ Pool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323698" y="4015588"/>
            <a:ext cx="182148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Spider_Angioma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2152498" y="4015588"/>
            <a:ext cx="310164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block; missing → __MISSING__</a:t>
            </a:r>
            <a:endParaRPr lang="en-US" sz="810" dirty="0"/>
          </a:p>
        </p:txBody>
      </p:sp>
      <p:sp>
        <p:nvSpPr>
          <p:cNvPr id="32" name="Text 30"/>
          <p:cNvSpPr/>
          <p:nvPr/>
        </p:nvSpPr>
        <p:spPr>
          <a:xfrm>
            <a:off x="5261458" y="4015588"/>
            <a:ext cx="200436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one-hot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7273138" y="4015588"/>
            <a:ext cx="200436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dtype</a:t>
            </a:r>
            <a:endParaRPr lang="en-US" sz="810" dirty="0"/>
          </a:p>
        </p:txBody>
      </p:sp>
      <p:sp>
        <p:nvSpPr>
          <p:cNvPr id="34" name="Text 32"/>
          <p:cNvSpPr/>
          <p:nvPr/>
        </p:nvSpPr>
        <p:spPr>
          <a:xfrm>
            <a:off x="9284818" y="4015588"/>
            <a:ext cx="255300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+ Pool</a:t>
            </a:r>
            <a:endParaRPr lang="en-US" sz="810" dirty="0"/>
          </a:p>
        </p:txBody>
      </p:sp>
      <p:sp>
        <p:nvSpPr>
          <p:cNvPr id="35" name="Text 33"/>
          <p:cNvSpPr/>
          <p:nvPr/>
        </p:nvSpPr>
        <p:spPr>
          <a:xfrm>
            <a:off x="323698" y="4552798"/>
            <a:ext cx="182148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Edema_Status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2152498" y="4552798"/>
            <a:ext cx="310164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“None” means no edema, not NaN</a:t>
            </a:r>
            <a:endParaRPr lang="en-US" sz="810" dirty="0"/>
          </a:p>
        </p:txBody>
      </p:sp>
      <p:sp>
        <p:nvSpPr>
          <p:cNvPr id="37" name="Text 35"/>
          <p:cNvSpPr/>
          <p:nvPr/>
        </p:nvSpPr>
        <p:spPr>
          <a:xfrm>
            <a:off x="5261458" y="4552798"/>
            <a:ext cx="200436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one-hot</a:t>
            </a:r>
            <a:endParaRPr lang="en-US" sz="810" dirty="0"/>
          </a:p>
        </p:txBody>
      </p:sp>
      <p:sp>
        <p:nvSpPr>
          <p:cNvPr id="38" name="Text 36"/>
          <p:cNvSpPr/>
          <p:nvPr/>
        </p:nvSpPr>
        <p:spPr>
          <a:xfrm>
            <a:off x="7273138" y="4552798"/>
            <a:ext cx="200436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dtype</a:t>
            </a:r>
            <a:endParaRPr lang="en-US" sz="810" dirty="0"/>
          </a:p>
        </p:txBody>
      </p:sp>
      <p:sp>
        <p:nvSpPr>
          <p:cNvPr id="39" name="Text 37"/>
          <p:cNvSpPr/>
          <p:nvPr/>
        </p:nvSpPr>
        <p:spPr>
          <a:xfrm>
            <a:off x="9284818" y="4552798"/>
            <a:ext cx="255300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+ Pool</a:t>
            </a:r>
            <a:endParaRPr lang="en-US" sz="810" dirty="0"/>
          </a:p>
        </p:txBody>
      </p:sp>
      <p:sp>
        <p:nvSpPr>
          <p:cNvPr id="40" name="Text 38"/>
          <p:cNvSpPr/>
          <p:nvPr/>
        </p:nvSpPr>
        <p:spPr>
          <a:xfrm>
            <a:off x="323698" y="5090008"/>
            <a:ext cx="182148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Clinical_Stage</a:t>
            </a:r>
            <a:endParaRPr lang="en-US" sz="810" dirty="0"/>
          </a:p>
        </p:txBody>
      </p:sp>
      <p:sp>
        <p:nvSpPr>
          <p:cNvPr id="41" name="Text 39"/>
          <p:cNvSpPr/>
          <p:nvPr/>
        </p:nvSpPr>
        <p:spPr>
          <a:xfrm>
            <a:off x="2152498" y="5090008"/>
            <a:ext cx="310164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ordinal 1–4 but handled as categorical</a:t>
            </a:r>
            <a:endParaRPr lang="en-US" sz="810" dirty="0"/>
          </a:p>
        </p:txBody>
      </p:sp>
      <p:sp>
        <p:nvSpPr>
          <p:cNvPr id="42" name="Text 40"/>
          <p:cNvSpPr/>
          <p:nvPr/>
        </p:nvSpPr>
        <p:spPr>
          <a:xfrm>
            <a:off x="5261458" y="5090008"/>
            <a:ext cx="200436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one-hot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7273138" y="5090008"/>
            <a:ext cx="200436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dtype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9284818" y="5090008"/>
            <a:ext cx="2553005" cy="5298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+ Pool</a:t>
            </a:r>
            <a:endParaRPr lang="en-US" sz="810" dirty="0"/>
          </a:p>
        </p:txBody>
      </p:sp>
      <p:sp>
        <p:nvSpPr>
          <p:cNvPr id="45" name="Text 43"/>
          <p:cNvSpPr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OneHotEncoder uses handle_unknown="ignore" and min_frequency=5; exact dummy count depends on fitted fold encoder.</a:t>
            </a:r>
            <a:endParaRPr lang="en-US" sz="1250" dirty="0"/>
          </a:p>
        </p:txBody>
      </p:sp>
      <p:sp>
        <p:nvSpPr>
          <p:cNvPr id="48" name="Text 45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Baseline: Logistic Regression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023360" cy="4206240"/>
          </a:xfrm>
          <a:prstGeom prst="roundRect">
            <a:avLst>
              <a:gd name="adj" fmla="val 1818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94560"/>
            <a:ext cx="4023360" cy="11338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0.45596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328416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Log Loss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start here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reference point every later improvement must beat.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66751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for numerical gaps — computed per-fold to avoid leakage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indicators — preserve the signal that a value was absent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scaling — required for a coefficient-based model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— nominal categories, no false ordering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5 times (once per fold), never on data it will validate against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 Models Beat the Baseline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7223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87452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DEBD3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21031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0" y="2788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Log Loss moving from Logistic Regression to XGBoost.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0" y="37947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and LightGBM differ by only 0.00052 — a near-tie, well inside fold-to-fold noise.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is weaker here, but is kept as a blend/comparison candidate.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Boosting models beat the linear baseline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Non-linear interactions matter in this clinical dataset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69095"/>
            <a:ext cx="1088136" cy="2531505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3063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0.37412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485546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12848" y="2265576"/>
            <a:ext cx="1088136" cy="25350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2848" y="2009544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0.37464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12848" y="485546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57016" y="2205827"/>
            <a:ext cx="1088136" cy="2594773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7016" y="1949795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0.38347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57016" y="485546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CatBoost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01184" y="1715319"/>
            <a:ext cx="1088136" cy="3085281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459287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0.45596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01184" y="485546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LogReg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0" y="1600200"/>
            <a:ext cx="4663440" cy="1143000"/>
          </a:xfrm>
          <a:prstGeom prst="rect">
            <a:avLst/>
          </a:prstGeom>
          <a:solidFill>
            <a:srgbClr val="EAF3FA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60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stopping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3,000 trees are allowed, but training stops if validation Log Loss does not improve for 150 rounds.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4663440" cy="1143000"/>
          </a:xfrm>
          <a:prstGeom prst="rect">
            <a:avLst/>
          </a:prstGeom>
          <a:solidFill>
            <a:srgbClr val="E8F7F4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helps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Trees can learn thresholds, missing branches and feature interactions without manually creating interaction columns.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526280"/>
            <a:ext cx="4663440" cy="914400"/>
          </a:xfrm>
          <a:prstGeom prst="rect">
            <a:avLst/>
          </a:prstGeom>
          <a:solidFill>
            <a:srgbClr val="FFF3E6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jump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reduces OOF Log Loss by about 18% versus Logistic Regression.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BOOSTING TRAINS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Stopping: Knowing When to Stop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05840" cy="1005840"/>
          </a:xfrm>
          <a:prstGeom prst="ellipse">
            <a:avLst/>
          </a:prstGeom>
          <a:solidFill>
            <a:srgbClr val="3B8686"/>
          </a:solidFill>
          <a:ln/>
        </p:spPr>
      </p:sp>
      <p:pic>
        <p:nvPicPr>
          <p:cNvPr id="5" name="Image 0" descr="/home/claude/pptx_project/icons/stop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207020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9202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3,000 trees are allowed — but training almost never uses all of them.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2004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studying for an exam: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61188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new tree, the model checks its practice-test score (validation Log Loss)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that score hasn't improved in 150 rounds straight, training stops immediately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best-scoring point is kept — not necessarily the last one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stop? More trees can mean memorizing train-set quirks instead of general patterns — overfitting.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step 3: Equal blend vs optimized blend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 weights are optimized after base models already produced OOF matrices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4937760" cy="1234440"/>
          </a:xfrm>
          <a:prstGeom prst="rect">
            <a:avLst/>
          </a:prstGeom>
          <a:solidFill>
            <a:srgbClr val="EAF3FA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60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 blend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w_XGB = w_LGBM = w_CAT = 1/3. Simple average; no learning. Default equal blend: 0.37431.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46520" y="1417320"/>
            <a:ext cx="4937760" cy="1234440"/>
          </a:xfrm>
          <a:prstGeom prst="rect">
            <a:avLst/>
          </a:prstGeom>
          <a:solidFill>
            <a:srgbClr val="E8F7F4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Optimized blend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global weights that minimize OOF Log Loss. Default optimized blend: 0.37330.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8098" y="3341218"/>
            <a:ext cx="2918765" cy="41940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 stage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64178" y="3341218"/>
            <a:ext cx="1730045" cy="41940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01538" y="3341218"/>
            <a:ext cx="1730045" cy="41940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38898" y="3341218"/>
            <a:ext cx="1730045" cy="41940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CatBoost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76258" y="3341218"/>
            <a:ext cx="1547165" cy="41940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8098" y="3767938"/>
            <a:ext cx="291876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optimized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4178" y="3767938"/>
            <a:ext cx="173004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0.5316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01538" y="3767938"/>
            <a:ext cx="173004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0.4289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38898" y="3767938"/>
            <a:ext cx="173004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0.0396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76258" y="3767938"/>
            <a:ext cx="154716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0.37330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8098" y="4194658"/>
            <a:ext cx="291876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optimized final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64178" y="4194658"/>
            <a:ext cx="173004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0.4308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01538" y="4194658"/>
            <a:ext cx="173004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0.5683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38898" y="4194658"/>
            <a:ext cx="173004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76258" y="4194658"/>
            <a:ext cx="154716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0.37010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5303520"/>
            <a:ext cx="10149840" cy="457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CatBoost weight ≈ 0 is evidence, not a mistake: after tuning, it adds almost no extra signal beyond XGB + LGBM.</a:t>
            </a:r>
            <a:endParaRPr lang="en-US" sz="1380" dirty="0"/>
          </a:p>
        </p:txBody>
      </p:sp>
      <p:sp>
        <p:nvSpPr>
          <p:cNvPr id="25" name="Text 22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Nelder–Mead behind the scenes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derivative-free search over three raw weights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57830" y="1773936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930445" y="1773936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03059" y="1773936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275674" y="1773936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31520" y="1417320"/>
            <a:ext cx="200802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at 1/3,1/3,1/3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04134" y="1417320"/>
            <a:ext cx="200802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Log Loss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6749" y="1417320"/>
            <a:ext cx="200802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simplex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49363" y="1417320"/>
            <a:ext cx="200802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weights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421978" y="1417320"/>
            <a:ext cx="2008022" cy="7132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best OOF blend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4572000" cy="1143000"/>
          </a:xfrm>
          <a:prstGeom prst="rect">
            <a:avLst/>
          </a:prstGeom>
          <a:solidFill>
            <a:srgbClr val="EAF3FA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60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 = w1·P_XGB + w2·P_LGBM + w3·P_CAT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= log_loss(y, blend)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4572000" cy="1143000"/>
          </a:xfrm>
          <a:prstGeom prst="rect">
            <a:avLst/>
          </a:prstGeom>
          <a:solidFill>
            <a:srgbClr val="E8F7F4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 by code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weights = abs(weights); weights = weights / weights.sum()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weights are non-negative and sum to 1.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983480"/>
            <a:ext cx="10424160" cy="457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base model is retrained during weight search; each evaluation is only a weighted average plus Log Loss.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blend gains are modest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three boosting models make very similar predictions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374904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60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0.9911–0.9969
</a:t>
            </a:r>
            <a:r>
              <a:rPr lang="en-US" sz="9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between default model predictions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0" y="1508760"/>
            <a:ext cx="6217920" cy="8686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 helps most when models make different errors. Here, XGBoost, LightGBM and CatBoost “think” almost the same on most patients.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07920" y="3383280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047744" y="3383280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3063240"/>
            <a:ext cx="14752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 error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54224" y="3063240"/>
            <a:ext cx="14752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 different error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94048" y="3063240"/>
            <a:ext cx="1475232" cy="6400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 cancels noise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84364" y="3383280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14232" y="3383280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944100" y="3383280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0" y="3063240"/>
            <a:ext cx="106527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30668" y="3063240"/>
            <a:ext cx="106527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LGBM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60536" y="3063240"/>
            <a:ext cx="106527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CatBoost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90404" y="3063240"/>
            <a:ext cx="1065276" cy="640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Highly aligned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11680" y="4709160"/>
            <a:ext cx="8138160" cy="868680"/>
          </a:xfrm>
          <a:prstGeom prst="rect">
            <a:avLst/>
          </a:prstGeom>
          <a:solidFill>
            <a:srgbClr val="FFF3E6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gain from 0.374 to 0.373 is reasonable; it is not a failure of blending.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Optuna: Automated, Smarter Search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943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has “knobs” — tree depth, learning rate, subsampling, regularization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guessed defaults were unlikely to be optimal for this dataset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tries many combinations automatically — no manual grid needed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160520"/>
          </a:xfrm>
          <a:prstGeom prst="roundRect">
            <a:avLst>
              <a:gd name="adj" fmla="val 1758"/>
            </a:avLst>
          </a:prstGeom>
          <a:solidFill>
            <a:srgbClr val="E8F1EF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0" y="2103120"/>
            <a:ext cx="777240" cy="777240"/>
          </a:xfrm>
          <a:prstGeom prst="ellipse">
            <a:avLst/>
          </a:prstGeom>
          <a:solidFill>
            <a:srgbClr val="3B8686"/>
          </a:solidFill>
          <a:ln/>
        </p:spPr>
      </p:sp>
      <p:pic>
        <p:nvPicPr>
          <p:cNvPr id="7" name="Image 0" descr="/home/claude/pptx_project/icons/rand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18" y="228965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22128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random guessing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40880" y="306324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TPE sampler learns from every previous trial — like guessing a number and narrowing in on the range that keeps paying off, instead of guessing blindly each time.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040880" y="452628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guarantee the global optimum — but it searches far more efficiently than random or grid search under a limited budget.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Optuna</a:t>
            </a: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/TPE does not replace the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 chooses hyperparameters; XGBoost/LightGBM/CatBoost are still trained inside the objective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12694" y="1773936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948733" y="1773936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084771" y="1773936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220810" y="1773936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22960" y="1417320"/>
            <a:ext cx="197144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 proposes params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58998" y="1417320"/>
            <a:ext cx="197144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trains model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95037" y="1417320"/>
            <a:ext cx="197144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5-fold CV score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31075" y="1417320"/>
            <a:ext cx="197144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Optuna records score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67114" y="1417320"/>
            <a:ext cx="1971446" cy="7132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trial improves search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4572000" cy="1143000"/>
          </a:xfrm>
          <a:prstGeom prst="rect">
            <a:avLst/>
          </a:prstGeom>
          <a:solidFill>
            <a:srgbClr val="EAF3FA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60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TPE optimizes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learning_rate, depth/leaves, child/leaf controls, subsampling, regularization.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4572000" cy="1143000"/>
          </a:xfrm>
          <a:prstGeom prst="rect">
            <a:avLst/>
          </a:prstGeom>
          <a:solidFill>
            <a:srgbClr val="FDECEA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TPE does not optimize here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does not search the blend weights of XGBoost + LightGBM + CatBoost.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00600"/>
            <a:ext cx="1014984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separate Optuna studies are run: one for XGBoost, one for LightGBM, one for CatBoost.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TPE in plain language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Tree-structured Parzen Estimator learns where good hyperparameters tend to live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3291840" cy="1051560"/>
          </a:xfrm>
          <a:prstGeom prst="rect">
            <a:avLst/>
          </a:prstGeom>
          <a:solidFill>
            <a:srgbClr val="EAF3FA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E60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Collect trial history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trial gives: hyperparameters → mean CV Log Loss.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34840" y="1371600"/>
            <a:ext cx="3291840" cy="1051560"/>
          </a:xfrm>
          <a:prstGeom prst="rect">
            <a:avLst/>
          </a:prstGeom>
          <a:solidFill>
            <a:srgbClr val="E8F7F4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Split trials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Log Loss trials become the “good” group; the rest become “less good”.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92440" y="1371600"/>
            <a:ext cx="3291840" cy="1051560"/>
          </a:xfrm>
          <a:prstGeom prst="rect">
            <a:avLst/>
          </a:prstGeom>
          <a:solidFill>
            <a:srgbClr val="FFF3E6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Propose candidates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values common in good trials and uncommon in bad trials.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10241280" cy="5486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Conceptually, TPE favors high l(x) / g(x): values likely under good trials and unlikely under bad trials.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06724" y="5097780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16752" y="5097780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26780" y="5097780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43000" y="4754880"/>
            <a:ext cx="234543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3028" y="4754880"/>
            <a:ext cx="234543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scores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63056" y="4754880"/>
            <a:ext cx="234543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good vs bad regions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73084" y="4754880"/>
            <a:ext cx="2345436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 better params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Behind one Optuna Final trial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trial is expensive because it repeats CV across multiple seeds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39542" y="1760220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939589" y="1760220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39635" y="1760220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339682" y="1760220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203545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params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85846" y="1417320"/>
            <a:ext cx="203545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42: 5 folds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85893" y="1417320"/>
            <a:ext cx="203545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123: 5 folds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85939" y="1417320"/>
            <a:ext cx="203545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2024: 5 folds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485986" y="1417320"/>
            <a:ext cx="2035454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Log Loss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2834640"/>
            <a:ext cx="274320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609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
</a:t>
            </a:r>
            <a:r>
              <a:rPr lang="en-US" sz="9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fits per Final trial</a:t>
            </a:r>
            <a:endParaRPr lang="en-US" sz="26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seeds × 5 folds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09160" y="2834640"/>
            <a:ext cx="274320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
</a:t>
            </a:r>
            <a:r>
              <a:rPr lang="en-US" sz="9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trials per model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12480" y="2834640"/>
            <a:ext cx="274320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900
</a:t>
            </a:r>
            <a:r>
              <a:rPr lang="en-US" sz="9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fits per model in Final round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20978" y="4712818"/>
            <a:ext cx="1554785" cy="25557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83078" y="4712818"/>
            <a:ext cx="1738561" cy="25557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Trials/model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28954" y="4712818"/>
            <a:ext cx="1279120" cy="25557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15389" y="4712818"/>
            <a:ext cx="1279120" cy="25557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01825" y="4712818"/>
            <a:ext cx="1738561" cy="25557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Fits/model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047701" y="4712818"/>
            <a:ext cx="1738561" cy="25557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models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20978" y="4975708"/>
            <a:ext cx="1554785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Scout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83078" y="4975708"/>
            <a:ext cx="1738561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28954" y="4975708"/>
            <a:ext cx="1279120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15389" y="4975708"/>
            <a:ext cx="1279120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01825" y="4975708"/>
            <a:ext cx="1738561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047701" y="4975708"/>
            <a:ext cx="1738561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420978" y="5238598"/>
            <a:ext cx="1554785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83078" y="5238598"/>
            <a:ext cx="1738561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28954" y="5238598"/>
            <a:ext cx="1279120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15389" y="5238598"/>
            <a:ext cx="1279120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01825" y="5238598"/>
            <a:ext cx="1738561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047701" y="5238598"/>
            <a:ext cx="1738561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2,700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420978" y="5501488"/>
            <a:ext cx="1554785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983078" y="5501488"/>
            <a:ext cx="1738561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28954" y="5501488"/>
            <a:ext cx="1279120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15389" y="5501488"/>
            <a:ext cx="1279120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301825" y="5501488"/>
            <a:ext cx="1738561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1,100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047701" y="5501488"/>
            <a:ext cx="1738561" cy="2555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3,300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 4 (CONTINUED)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Two Rounds, Not 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SCOUT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trials · seeds 42, 123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80720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check: does the best value land exactly on a range's edge?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2619756"/>
            <a:ext cx="457200" cy="201168"/>
          </a:xfrm>
          <a:prstGeom prst="rightArrow">
            <a:avLst/>
          </a:prstGeom>
          <a:solidFill>
            <a:srgbClr val="3B8686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DEBD3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FINAL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2350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trials · seeds 42, 123, 2024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29400" y="280720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Widened ranges, more trials/seeds — the parameters actually used.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64240" cy="19659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Scout round found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widened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C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colsample_bytree near edge — soft warning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 — cleared in final round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num_leaves = 15 — exactly on the lower edge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15–63  →  3–63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= 4 — exactly on the lower edge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  →  2–8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spaces: what Optuna was allowed to tune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ranges define the universe TPE can explore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8018" y="1329538"/>
            <a:ext cx="1638605" cy="57561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243938" y="1329538"/>
            <a:ext cx="6073445" cy="57561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tuned knobs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324698" y="1329538"/>
            <a:ext cx="3284525" cy="57561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range change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8018" y="1912468"/>
            <a:ext cx="1638605" cy="57561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43938" y="1912468"/>
            <a:ext cx="6073445" cy="57561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learning_rate, max_depth, min_child_weight, subsample, colsample_bytree, reg_lambda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324698" y="1912468"/>
            <a:ext cx="3284525" cy="57561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unchanged from scout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8018" y="2495398"/>
            <a:ext cx="1638605" cy="57561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43938" y="2495398"/>
            <a:ext cx="6073445" cy="57561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learning_rate, num_leaves, min_child_samples, feature_fraction, bagging_fraction, reg_lambda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324698" y="2495398"/>
            <a:ext cx="3284525" cy="57561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num_leaves widened 15–63 → 3–63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8018" y="3078328"/>
            <a:ext cx="1638605" cy="57561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CatBoost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43938" y="3078328"/>
            <a:ext cx="6073445" cy="57561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learning_rate, depth, l2_leaf_reg, subsample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24698" y="3078328"/>
            <a:ext cx="3284525" cy="57561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widened 4–8 → 2–8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4297680"/>
            <a:ext cx="4800600" cy="960120"/>
          </a:xfrm>
          <a:prstGeom prst="rect">
            <a:avLst/>
          </a:prstGeom>
          <a:solidFill>
            <a:srgbClr val="FFF3E6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 is efficient, not exhaustive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+ 60 trials do not try every possible combination. best_params means best among tried trials.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297680"/>
            <a:ext cx="4800600" cy="960120"/>
          </a:xfrm>
          <a:prstGeom prst="rect">
            <a:avLst/>
          </a:prstGeom>
          <a:solidFill>
            <a:srgbClr val="E8F7F4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quality matters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promising region lies outside the range, TPE cannot discover it. That is why Scout matters.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 4 (RESULTS)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Model Improves After Tuning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75895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874520"/>
            <a:ext cx="3246120" cy="4023360"/>
          </a:xfrm>
          <a:prstGeom prst="roundRect">
            <a:avLst>
              <a:gd name="adj" fmla="val 2254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4108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configs favor: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41080" y="2514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shallower trees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regularization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row/feature subsampling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41080" y="4114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Controlling variance mattered more than adding raw complexity.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41080" y="5074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~5.6 hours total search time across both rounds, all 3 models.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Blending the Tuned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DEBD3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0.9911 – 0.9969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542032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default models' predictions — so blend gains were always going to be modest, not dramatic.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3383280"/>
          <a:ext cx="51663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1783080"/>
            <a:ext cx="5623560" cy="4206240"/>
          </a:xfrm>
          <a:prstGeom prst="roundRect">
            <a:avLst>
              <a:gd name="adj" fmla="val 1739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63640" y="20116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Nelder-Mead weight search on tuned OOF predictions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63640" y="2651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blend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509760" y="2651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0.37330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263640" y="32735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blend (final, v3)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509760" y="3273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0.37010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263640" y="402336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CatBoost's weight collapses to ~0 — not a mistake, but evidence it adds almost nothing once XGBoost and LightGBM are tuned.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63640" y="516636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Leaderboard: 0.38042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best hyperparameters say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tuned configs favored smaller, regularized trees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2298" y="1420978"/>
            <a:ext cx="2278685" cy="51084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 group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2838298" y="1420978"/>
            <a:ext cx="2918765" cy="51084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5764378" y="1420978"/>
            <a:ext cx="2918765" cy="51084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8690458" y="1420978"/>
            <a:ext cx="2918765" cy="51084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CatBoost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52298" y="1939138"/>
            <a:ext cx="227868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rate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2838298" y="193913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0.0238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764378" y="193913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0.0327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690458" y="193913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0.0580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52298" y="2457298"/>
            <a:ext cx="227868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size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2838298" y="245729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max_depth = 4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764378" y="245729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num_leaves = 8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8690458" y="245729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= 3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52298" y="2975458"/>
            <a:ext cx="227868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subsampling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2838298" y="297545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0.739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5764378" y="297545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bagging = 0.707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8690458" y="297545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0.684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52298" y="3493618"/>
            <a:ext cx="227868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subsampling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2838298" y="349361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colsample = 0.516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5764378" y="349361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feature_fraction = 0.547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8690458" y="349361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52298" y="4011778"/>
            <a:ext cx="227868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 regularization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2838298" y="401177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reg_lambda = 0.981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764378" y="401177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reg_lambda = 1.145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8690458" y="4011778"/>
            <a:ext cx="2918765" cy="51084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l2_leaf_reg = 1.81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914400" y="4892040"/>
            <a:ext cx="10332720" cy="868680"/>
          </a:xfrm>
          <a:prstGeom prst="rect">
            <a:avLst/>
          </a:prstGeom>
          <a:solidFill>
            <a:srgbClr val="E8F7F4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complexity was not the answer. Smaller trees plus subsampling and regularization generalized better.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step 5: What is seed 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controls pseudo-random choices so experiments are reproducible and comparable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0898" y="1420978"/>
            <a:ext cx="2004365" cy="48417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92578" y="1420978"/>
            <a:ext cx="5661965" cy="48417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seed controls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1858" y="1420978"/>
            <a:ext cx="2964485" cy="48417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0898" y="1912468"/>
            <a:ext cx="2004365" cy="4841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 split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92578" y="1912468"/>
            <a:ext cx="5661965" cy="4841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rows go into which folds after shuffle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61858" y="1912468"/>
            <a:ext cx="2964485" cy="4841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StratifiedKFold random_state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0898" y="2403958"/>
            <a:ext cx="2004365" cy="4841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92578" y="2403958"/>
            <a:ext cx="5661965" cy="4841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row/feature sampling and internal random operations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61858" y="2403958"/>
            <a:ext cx="2964485" cy="4841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random_state / random_seed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0898" y="2895448"/>
            <a:ext cx="2004365" cy="4841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Optuna sampler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92578" y="2895448"/>
            <a:ext cx="5661965" cy="4841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hyperparameter candidates TPE proposes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61858" y="2895448"/>
            <a:ext cx="2964485" cy="48417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TPESampler(seed=42)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4069080"/>
            <a:ext cx="4754880" cy="1097280"/>
          </a:xfrm>
          <a:prstGeom prst="rect">
            <a:avLst/>
          </a:prstGeom>
          <a:solidFill>
            <a:srgbClr val="FFF3E6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does not make the model smarter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fixes the random path. Change the seed, and folds/subsamples can change slightly.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069080"/>
            <a:ext cx="4754880" cy="1097280"/>
          </a:xfrm>
          <a:prstGeom prst="rect">
            <a:avLst/>
          </a:prstGeom>
          <a:solidFill>
            <a:srgbClr val="E8F7F4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seed=42 matters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main models use the same shared folds, so comparisons and blends are row-aligned.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step 5: Seed averaging - What happens behind the scenes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tuned CV under multiple random states, then average probabilities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21254" y="1773936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948733" y="1773936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76211" y="1773936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403690" y="1773936"/>
            <a:ext cx="128016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20628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42: 5-fold models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67558" y="1417320"/>
            <a:ext cx="20628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123: 5-fold models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95037" y="1417320"/>
            <a:ext cx="20628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2024: 5-fold models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22515" y="1417320"/>
            <a:ext cx="20628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probabilities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49994" y="1417320"/>
            <a:ext cx="2062886" cy="7132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Re-optimize blend weights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2788920"/>
            <a:ext cx="5120640" cy="1188720"/>
          </a:xfrm>
          <a:prstGeom prst="rect">
            <a:avLst/>
          </a:prstGeom>
          <a:solidFill>
            <a:srgbClr val="EAF3FA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E60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TRAIN row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gets 3 honest OOF predictions — one from each seed — then those three vectors are averaged.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55080" y="2788920"/>
            <a:ext cx="5120640" cy="1188720"/>
          </a:xfrm>
          <a:prstGeom prst="rect">
            <a:avLst/>
          </a:prstGeom>
          <a:solidFill>
            <a:srgbClr val="E8F7F4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TEST row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algorithm averages 3 seeds × 5 fold models = 15 predictions per row.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0" y="4800600"/>
            <a:ext cx="4892040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
</a:t>
            </a:r>
            <a:r>
              <a:rPr lang="en-US" sz="9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fitted fold models in the 3-algorithm seed-averaged ensemble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Seed-averaging looked better locally, but not on Public LB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correct conclusion is inconclusive — not selected as primary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8058" y="1420978"/>
            <a:ext cx="3741725" cy="41940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7098" y="1420978"/>
            <a:ext cx="2095805" cy="41940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 Log Loss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70218" y="1420978"/>
            <a:ext cx="2095805" cy="41940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LB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73338" y="1420978"/>
            <a:ext cx="2370125" cy="41940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8058" y="1847698"/>
            <a:ext cx="374172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tuned blend v3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7098" y="1847698"/>
            <a:ext cx="209580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0.37010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70218" y="1847698"/>
            <a:ext cx="209580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0.38042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73338" y="1847698"/>
            <a:ext cx="237012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8058" y="2274418"/>
            <a:ext cx="374172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Seed-averaged blend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7098" y="2274418"/>
            <a:ext cx="209580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0.36713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70218" y="2274418"/>
            <a:ext cx="209580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0.38067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73338" y="2274418"/>
            <a:ext cx="2370125" cy="4194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 as primary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337560"/>
            <a:ext cx="5120640" cy="1188720"/>
          </a:xfrm>
          <a:prstGeom prst="rect">
            <a:avLst/>
          </a:prstGeom>
          <a:solidFill>
            <a:srgbClr val="FDECEA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trust the lower OOF blindly?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OOF gain (~0.003) is smaller than observed fold-to-fold noise (~0.007–0.012). Public LB moved in the wrong direction.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337560"/>
            <a:ext cx="5120640" cy="1188720"/>
          </a:xfrm>
          <a:prstGeom prst="rect">
            <a:avLst/>
          </a:prstGeom>
          <a:solidFill>
            <a:srgbClr val="E8F7F4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judgment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as inconclusive and keep the simpler v3 as primary. Seed-average can remain as a hedge submission.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 5: AN HONEST FAILURE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Seed-Averaging: When Evidence Disagrees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retrain the tuned models under 3 seeds, average predictions for extra stability.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EAF4EE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rgbClr val="2F8F5B"/>
          </a:solidFill>
          <a:ln/>
        </p:spPr>
      </p:sp>
      <p:pic>
        <p:nvPicPr>
          <p:cNvPr id="7" name="Image 0" descr="/home/claude/pptx_projec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7139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606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validation (OOF)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0.36713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22960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0.37010 for the single-seed tuned blend  —  looks better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23317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BEAEA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56032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3" name="Image 1" descr="/home/claude/pptx_project/icons/excla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271393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2606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Leaderboard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92240" y="32461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0.38067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6492240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0.38042 for the single-seed tuned blend  —  slightly worse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treated as inconclusive, not selected as primary. The OOF gain is smaller than typical fold-to-fold noise, and the leaderboard moved the wrong way. Still kept as one of the 5 final Kaggle picks — as a hedge.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Still Fails: Class CL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21945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→ tuned → blend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C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Log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→ tuned → blend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C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93.6% → 93.4% → 93.5%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0.199 → 0.198 → 0.198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73.1% → 73.5% → 73.5%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 → 0.581 → 0.581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8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8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8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 → 19.6% → 19.2%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8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2.496 → 2.486 → 2.441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519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DEBD3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44348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4×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CL's per-row Log Loss is over four times D's — even after tuning. Only 317 examples, heavy overlap with C and 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42519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4480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data problem, not a tuning problem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92240" y="50292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gap (correct vs. wrong) stayed ~0.17 across all 3 stages — tuning sharpened easy decisions, not uncertainty awareness.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analysis: CL remains the hard class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Tuning improved headline Log Loss but did not solve the rare class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0898" y="1420978"/>
            <a:ext cx="1181405" cy="41559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1969618" y="1420978"/>
            <a:ext cx="1272845" cy="41559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3249778" y="1420978"/>
            <a:ext cx="1821485" cy="41559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before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078578" y="1420978"/>
            <a:ext cx="1821485" cy="41559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after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907378" y="1420978"/>
            <a:ext cx="1821485" cy="41559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blend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736178" y="1420978"/>
            <a:ext cx="2690165" cy="41559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Log Loss blend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780898" y="1843888"/>
            <a:ext cx="118140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1969618" y="1843888"/>
            <a:ext cx="127284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8,151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3249778" y="1843888"/>
            <a:ext cx="182148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93.6%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078578" y="1843888"/>
            <a:ext cx="182148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93.4%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6907378" y="1843888"/>
            <a:ext cx="182148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93.5%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736178" y="1843888"/>
            <a:ext cx="269016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0.198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780898" y="2266798"/>
            <a:ext cx="118140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1969618" y="2266798"/>
            <a:ext cx="127284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317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3249778" y="2266798"/>
            <a:ext cx="182148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15.8%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078578" y="2266798"/>
            <a:ext cx="182148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19.6%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907378" y="2266798"/>
            <a:ext cx="182148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19.2%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8736178" y="2266798"/>
            <a:ext cx="269016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2.441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780898" y="2689708"/>
            <a:ext cx="118140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1969618" y="2689708"/>
            <a:ext cx="127284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3,532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3249778" y="2689708"/>
            <a:ext cx="182148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73.1%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078578" y="2689708"/>
            <a:ext cx="182148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73.5%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6907378" y="2689708"/>
            <a:ext cx="182148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73.5%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736178" y="2689708"/>
            <a:ext cx="269016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0.581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097280" y="3749040"/>
            <a:ext cx="3291840" cy="1097280"/>
          </a:xfrm>
          <a:prstGeom prst="rect">
            <a:avLst/>
          </a:prstGeom>
          <a:solidFill>
            <a:srgbClr val="FFFFFF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62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&gt;4×
</a:t>
            </a:r>
            <a:r>
              <a:rPr lang="en-US" sz="9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 per-row Log Loss vs D even after tuning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983480" y="3703320"/>
            <a:ext cx="5669280" cy="1143000"/>
          </a:xfrm>
          <a:prstGeom prst="rect">
            <a:avLst/>
          </a:prstGeom>
          <a:solidFill>
            <a:srgbClr val="FFF3E6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 has only 317 rows and overlaps with C/D. This is primarily a data/feature problem, not a hyperparameter problem.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68680" y="5623560"/>
            <a:ext cx="1060704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work: CL-specific features, class weighting, calibration, resampling, or better labels/data.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02920" y="653796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Hepatic Risk Prediction Pipeline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path: what was kept and what was rejected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Ablation-style evidence, one major change at a time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3738" y="1375258"/>
            <a:ext cx="4198925" cy="60990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</a:t>
            </a:r>
            <a:endParaRPr lang="en-US" sz="1070" dirty="0"/>
          </a:p>
        </p:txBody>
      </p:sp>
      <p:sp>
        <p:nvSpPr>
          <p:cNvPr id="6" name="Text 4"/>
          <p:cNvSpPr/>
          <p:nvPr/>
        </p:nvSpPr>
        <p:spPr>
          <a:xfrm>
            <a:off x="4849978" y="1375258"/>
            <a:ext cx="1912925" cy="60990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6770218" y="1375258"/>
            <a:ext cx="1912925" cy="60990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LB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8690458" y="1375258"/>
            <a:ext cx="2918765" cy="60990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643738" y="1992478"/>
            <a:ext cx="4198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baseline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4849978" y="1992478"/>
            <a:ext cx="1912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0.45596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6770218" y="1992478"/>
            <a:ext cx="1912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submitted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8690458" y="1992478"/>
            <a:ext cx="291876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643738" y="2609698"/>
            <a:ext cx="4198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default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4849978" y="2609698"/>
            <a:ext cx="1912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0.37412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6770218" y="2609698"/>
            <a:ext cx="1912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0.38372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8690458" y="2609698"/>
            <a:ext cx="291876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kept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643738" y="3226918"/>
            <a:ext cx="4198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optimized blend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4849978" y="3226918"/>
            <a:ext cx="1912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0.37330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6770218" y="3226918"/>
            <a:ext cx="1912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0.38364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8690458" y="3226918"/>
            <a:ext cx="291876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superseded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643738" y="3844138"/>
            <a:ext cx="4198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optimized blend v3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4849978" y="3844138"/>
            <a:ext cx="1912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0.37010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6770218" y="3844138"/>
            <a:ext cx="1912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0.38042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8690458" y="3844138"/>
            <a:ext cx="291876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643738" y="4461358"/>
            <a:ext cx="4198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Seed-averaged blend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4849978" y="4461358"/>
            <a:ext cx="1912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0.36713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6770218" y="4461358"/>
            <a:ext cx="191292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0.38067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8690458" y="4461358"/>
            <a:ext cx="2918765" cy="60990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 as primary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86868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rule added after Exp 11: trust a CV gain only when it is larger than the fold-noise band.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02920" y="653796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Hepatic Risk Prediction Pipeline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/home/claude/pptx_project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82661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777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600200" y="1143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Tuned Blend — XGBoost + LightGBM + CatBoost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10314F"/>
          </a:solidFill>
          <a:ln w="12700">
            <a:solidFill>
              <a:srgbClr val="1D4C7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46888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9FC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0.45596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(Logistic Regression)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21488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10314F"/>
          </a:solidFill>
          <a:ln w="12700">
            <a:solidFill>
              <a:srgbClr val="1D4C7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246888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0.37010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4572000" y="35661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OOF Log Loss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(tuned blend)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38160" y="21488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10314F"/>
          </a:solidFill>
          <a:ln w="12700">
            <a:solidFill>
              <a:srgbClr val="1D4C7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0" y="246888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9FC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0.38042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8321040" y="35661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Leaderboard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80060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10314F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14400" y="4937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blend formula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5257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0.4308 × XGBoost   +   0.5683 × LightGBM   +   0.0008 × CatBoost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39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4960" y="320040"/>
            <a:ext cx="11316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The final weights of Tuned Blend come 2 connected steps: 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30352" y="1719072"/>
            <a:ext cx="11137392" cy="786384"/>
          </a:xfrm>
          <a:prstGeom prst="roundRect">
            <a:avLst>
              <a:gd name="adj" fmla="val 9302"/>
            </a:avLst>
          </a:prstGeom>
          <a:solidFill>
            <a:srgbClr val="123A59"/>
          </a:solidFill>
          <a:ln w="12700">
            <a:solidFill>
              <a:srgbClr val="1E5D89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938528"/>
            <a:ext cx="10625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result = </a:t>
            </a:r>
            <a:r>
              <a:rPr lang="en-US" sz="2100" b="1" dirty="0">
                <a:solidFill>
                  <a:srgbClr val="F794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Optuna-tuned models</a:t>
            </a:r>
            <a:r>
              <a:rPr lang="en-US" sz="21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+ </a:t>
            </a:r>
            <a:r>
              <a:rPr lang="en-US" sz="2100" b="1" dirty="0">
                <a:solidFill>
                  <a:srgbClr val="F794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Nelder–Mead optimized blend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8368" y="2816352"/>
            <a:ext cx="4800600" cy="1856232"/>
          </a:xfrm>
          <a:prstGeom prst="roundRect">
            <a:avLst>
              <a:gd name="adj" fmla="val 3941"/>
            </a:avLst>
          </a:prstGeom>
          <a:solidFill>
            <a:srgbClr val="0F314D"/>
          </a:solidFill>
          <a:ln w="12700">
            <a:solidFill>
              <a:srgbClr val="276A97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9984" y="2816352"/>
            <a:ext cx="4800600" cy="1856232"/>
          </a:xfrm>
          <a:prstGeom prst="roundRect">
            <a:avLst>
              <a:gd name="adj" fmla="val 3941"/>
            </a:avLst>
          </a:prstGeom>
          <a:solidFill>
            <a:srgbClr val="0F314D"/>
          </a:solidFill>
          <a:ln w="12700">
            <a:solidFill>
              <a:srgbClr val="276A97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026664"/>
            <a:ext cx="384048" cy="384048"/>
          </a:xfrm>
          <a:prstGeom prst="rect">
            <a:avLst/>
          </a:prstGeom>
          <a:solidFill>
            <a:srgbClr val="F7941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53D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89888" y="29809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Optuna + TPE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89888" y="33192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D6E8"/>
                </a:solidFill>
              </a:rPr>
              <a:t>Tunes each model separately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3544" y="3648456"/>
            <a:ext cx="4224528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5E5F0"/>
                </a:solidFill>
              </a:rPr>
              <a:t>• XGBoost hyperparameters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5E5F0"/>
                </a:solidFill>
              </a:rPr>
              <a:t>• LightGBM hyperparameters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5E5F0"/>
                </a:solidFill>
              </a:rPr>
              <a:t>• CatBoost hyperparameters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5E5F0"/>
                </a:solidFill>
              </a:rPr>
              <a:t>• Output: tuned OOF probability matrices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5641848" y="3749040"/>
            <a:ext cx="822960" cy="0"/>
          </a:xfrm>
          <a:prstGeom prst="line">
            <a:avLst/>
          </a:prstGeom>
          <a:noFill/>
          <a:ln w="38100">
            <a:solidFill>
              <a:srgbClr val="F7941D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650992" y="334670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D6E8"/>
                </a:solidFill>
              </a:rPr>
              <a:t>then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76872" y="3026664"/>
            <a:ext cx="384048" cy="384048"/>
          </a:xfrm>
          <a:prstGeom prst="rect">
            <a:avLst/>
          </a:prstGeom>
          <a:solidFill>
            <a:srgbClr val="F7941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53D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79792" y="29809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Nelder–Mead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79792" y="33192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D6E8"/>
                </a:solidFill>
              </a:rPr>
              <a:t>Optimizes blend weights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95160" y="3648456"/>
            <a:ext cx="4224528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5E5F0"/>
                </a:solidFill>
              </a:rPr>
              <a:t>• Does not tune trees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5E5F0"/>
                </a:solidFill>
              </a:rPr>
              <a:t>• Does not retrain base models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5E5F0"/>
                </a:solidFill>
              </a:rPr>
              <a:t>• Searches weights on OOF predictions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D5E5F0"/>
                </a:solidFill>
              </a:rPr>
              <a:t>• Output: final blend formula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658368" y="4983480"/>
            <a:ext cx="10972800" cy="969264"/>
          </a:xfrm>
          <a:prstGeom prst="roundRect">
            <a:avLst>
              <a:gd name="adj" fmla="val 7547"/>
            </a:avLst>
          </a:prstGeom>
          <a:solidFill>
            <a:srgbClr val="123A59"/>
          </a:solidFill>
          <a:ln w="12700">
            <a:solidFill>
              <a:srgbClr val="1E5D89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84648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D6E8"/>
                </a:solidFill>
              </a:rPr>
              <a:t>Final blend formula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468112"/>
            <a:ext cx="10149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0.4308 × XGBoost  +  0.5683 × LightGBM  +  0.0008 × CatBoost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3986784" y="614476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7941D"/>
                </a:solidFill>
              </a:rPr>
              <a:t>Final OOF Log Loss: 0.37010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951976" y="61447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D6E8"/>
                </a:solidFill>
              </a:rPr>
              <a:t>Public LB: 0.38042</a:t>
            </a:r>
            <a:endParaRPr lang="en-US" sz="1250" dirty="0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0A82A2E6-C595-8C57-D777-F8CB6153F621}"/>
              </a:ext>
            </a:extLst>
          </p:cNvPr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B8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3C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Worked, What Failed, 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777240" cy="777240"/>
          </a:xfrm>
          <a:prstGeom prst="ellipse">
            <a:avLst/>
          </a:prstGeom>
          <a:solidFill>
            <a:srgbClr val="2F8F5B"/>
          </a:solidFill>
          <a:ln/>
        </p:spPr>
      </p:sp>
      <p:pic>
        <p:nvPicPr>
          <p:cNvPr id="6" name="Image 0" descr="/home/claude/pptx_projec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23353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848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Worked: two-round tuning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5603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two genuinely too-narrow search ranges before wasting the full budget on them.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48840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/home/claude/pptx_project/icons/excla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23353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0848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Failed: seed-averaging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98080" y="25603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said better, Public LB said worse — taught us not to trust a small CV gain blindly.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343400"/>
            <a:ext cx="777240" cy="777240"/>
          </a:xfrm>
          <a:prstGeom prst="ellipse">
            <a:avLst/>
          </a:prstGeom>
          <a:solidFill>
            <a:srgbClr val="3B8686"/>
          </a:solidFill>
          <a:ln/>
        </p:spPr>
      </p:sp>
      <p:pic>
        <p:nvPicPr>
          <p:cNvPr id="16" name="Image 2" descr="/home/claude/pptx_project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452993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279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boundary checks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28800" y="47548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exact edge hits, but miss integers merely trending toward an edge (CatBoost depth 4→3).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EF3F6"/>
          </a:solidFill>
          <a:ln/>
          <a:effectLst>
            <a:outerShdw blurRad="101600" dist="25400" dir="5400000" algn="bl" rotWithShape="0">
              <a:srgbClr val="1F2D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343400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1" name="Image 3" descr="/home/claude/pptx_project/icons/light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778" y="452993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279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fix the rare class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0" y="47548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CL's weakness is data/feature overlap, not hyperparameters — future work targets this directly.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worked, what failed, what comes next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presentation ending: honest and precise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3337560" cy="1234440"/>
          </a:xfrm>
          <a:prstGeom prst="rect">
            <a:avLst/>
          </a:prstGeom>
          <a:solidFill>
            <a:srgbClr val="E8F7F4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D6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Two-round Optuna caught too-narrow ranges and improved every boosting model.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434840" y="1417320"/>
            <a:ext cx="3337560" cy="1234440"/>
          </a:xfrm>
          <a:prstGeom prst="rect">
            <a:avLst/>
          </a:prstGeom>
          <a:solidFill>
            <a:srgbClr val="FDECEA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D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 / inconclusive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averaging improved OOF but worsened Public LB; gain was smaller than fold noise.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92440" y="1417320"/>
            <a:ext cx="3337560" cy="1234440"/>
          </a:xfrm>
          <a:prstGeom prst="rect">
            <a:avLst/>
          </a:prstGeom>
          <a:solidFill>
            <a:srgbClr val="FFF3E6"/>
          </a:solidFill>
          <a:ln w="8890">
            <a:solidFill>
              <a:srgbClr val="E6EAF0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Remaining weakness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 is still the main error source; this needs feature/data-level work.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55218" y="3524098"/>
            <a:ext cx="3833165" cy="41559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5698" y="3524098"/>
            <a:ext cx="6210605" cy="41559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 for future projects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5218" y="3947008"/>
            <a:ext cx="383316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 quality beats raw accuracy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5698" y="3947008"/>
            <a:ext cx="621060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competition metric from the start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5218" y="4369918"/>
            <a:ext cx="383316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 must match model family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5698" y="4369918"/>
            <a:ext cx="621060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 and tree models should not receive identical transformed data blindly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5218" y="4792828"/>
            <a:ext cx="383316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CV gains need skepticism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5698" y="4792828"/>
            <a:ext cx="6210605" cy="41559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gains against fold-noise band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653796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Hepatic Risk Prediction Pipeline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</a:rPr>
              <a:t>42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</a:rPr>
              <a:t>More information: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8018" y="1329538"/>
            <a:ext cx="3741725" cy="73182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4347058" y="1329538"/>
            <a:ext cx="7307885" cy="731825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598018" y="2068678"/>
            <a:ext cx="3741725" cy="73182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Optuna tune blend weights?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4347058" y="2068678"/>
            <a:ext cx="7307885" cy="73182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Optuna tuned model hyperparameters; Nelder–Mead tuned blend weights.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98018" y="2807818"/>
            <a:ext cx="3741725" cy="73182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CatBoost weight ≈ 0?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4347058" y="2807818"/>
            <a:ext cx="7307885" cy="73182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tuning, it added almost no extra OOF signal beyond XGB + LGBM.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98018" y="3546958"/>
            <a:ext cx="3741725" cy="73182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use seed-averaging?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347058" y="3546958"/>
            <a:ext cx="7307885" cy="73182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 gain was small and Public LB worsened; evidence was inconclusive.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98018" y="4286098"/>
            <a:ext cx="3741725" cy="73182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in_trial replace the 7 columns?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347058" y="4286098"/>
            <a:ext cx="7307885" cy="73182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It is added; the 7 original columns remain.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98018" y="5025238"/>
            <a:ext cx="3741725" cy="73182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CL still weak?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347058" y="5025238"/>
            <a:ext cx="7307885" cy="731825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317 rows and strong overlap with C/D; tuning cannot fully fix that.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</a:rPr>
              <a:t>43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definitions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5178" y="1420978"/>
            <a:ext cx="2187245" cy="573982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29738" y="1420978"/>
            <a:ext cx="8496605" cy="573982"/>
          </a:xfrm>
          <a:prstGeom prst="rect">
            <a:avLst/>
          </a:prstGeom>
          <a:solidFill>
            <a:srgbClr val="14213D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Precise meaning in this project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5178" y="2002275"/>
            <a:ext cx="2187245" cy="573982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9738" y="2002275"/>
            <a:ext cx="8496605" cy="573982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for a train row made by a model that did not train on that row.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5178" y="2583572"/>
            <a:ext cx="2187245" cy="573982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9738" y="2583572"/>
            <a:ext cx="8496605" cy="573982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Sampler that uses prior trials to propose promising hyperparameters.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5178" y="3164869"/>
            <a:ext cx="2187245" cy="573982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Nelder–Mead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9738" y="3164869"/>
            <a:ext cx="8496605" cy="573982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Derivative-free optimizer used only for blend weights.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5178" y="3746166"/>
            <a:ext cx="2187245" cy="573982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9738" y="3746166"/>
            <a:ext cx="8496605" cy="573982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Integer controlling reproducible pseudo-random choices.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5178" y="4327463"/>
            <a:ext cx="2187245" cy="573982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averaging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9738" y="4327463"/>
            <a:ext cx="8496605" cy="573982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predictions from tuned models retrained under multiple seeds.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5178" y="4908760"/>
            <a:ext cx="2187245" cy="573982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in_trial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9738" y="4908760"/>
            <a:ext cx="8496605" cy="573982"/>
          </a:xfrm>
          <a:prstGeom prst="rect">
            <a:avLst/>
          </a:prstGeom>
          <a:solidFill>
            <a:srgbClr val="FFFFFF"/>
          </a:solidFill>
          <a:ln w="6350">
            <a:solidFill>
              <a:srgbClr val="E6EAF0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Inferred 7-column block completeness proxy; not confirmed enrollment metadata.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6271"/>
                </a:solidFill>
                <a:latin typeface="Aptos" pitchFamily="34" charset="0"/>
              </a:rPr>
              <a:t>44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920240"/>
            <a:ext cx="1005840" cy="10058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/home/claude/pptx_project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958" y="21616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9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Hepatic Risk Outcome Prediction  ·  Uyen Tran  ·  AIO 2026 Kaggle Competition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4779</Words>
  <Application>Microsoft Macintosh PowerPoint</Application>
  <PresentationFormat>Widescreen</PresentationFormat>
  <Paragraphs>870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Aptos</vt:lpstr>
      <vt:lpstr>Aptos Display</vt:lpstr>
      <vt:lpstr>Arial</vt:lpstr>
      <vt:lpstr>Calibri</vt:lpstr>
      <vt:lpstr>Cambria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UYEN TRAN</cp:lastModifiedBy>
  <cp:revision>4</cp:revision>
  <dcterms:created xsi:type="dcterms:W3CDTF">2026-08-03T14:02:44Z</dcterms:created>
  <dcterms:modified xsi:type="dcterms:W3CDTF">2026-08-03T23:50:07Z</dcterms:modified>
</cp:coreProperties>
</file>